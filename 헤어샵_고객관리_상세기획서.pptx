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029200" cy="5029200"/>
          </a:xfrm>
          <a:prstGeom prst="ellipse">
            <a:avLst/>
          </a:prstGeom>
          <a:solidFill>
            <a:srgbClr val="C2547A">
              <a:alpha val="22000"/>
            </a:srgbClr>
          </a:solidFill>
          <a:ln w="12700">
            <a:solidFill>
              <a:srgbClr val="C2547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7C4F7E">
              <a:alpha val="18000"/>
            </a:srgbClr>
          </a:solidFill>
          <a:ln w="12700">
            <a:solidFill>
              <a:srgbClr val="7C4F7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840480"/>
            <a:ext cx="2743200" cy="2743200"/>
          </a:xfrm>
          <a:prstGeom prst="ellipse">
            <a:avLst/>
          </a:prstGeom>
          <a:solidFill>
            <a:srgbClr val="E8965A">
              <a:alpha val="12000"/>
            </a:srgbClr>
          </a:solidFill>
          <a:ln w="12700">
            <a:solidFill>
              <a:srgbClr val="E8965A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헤어샵 고객 관리 차트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B0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상세 기획서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474720" cy="45720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B8CC"/>
                </a:solidFill>
              </a:rPr>
              <a:t>미용사 개인용 고객 관리 시스템  |  모바일 · 태블릿 최적화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325880" cy="347472"/>
          </a:xfrm>
          <a:prstGeom prst="rect">
            <a:avLst/>
          </a:prstGeom>
          <a:solidFill>
            <a:srgbClr val="C2547A">
              <a:alpha val="45000"/>
            </a:srgbClr>
          </a:solidFill>
          <a:ln w="6350">
            <a:solidFill>
              <a:srgbClr val="EAB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고객 프로필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75688" y="3429000"/>
            <a:ext cx="1325880" cy="347472"/>
          </a:xfrm>
          <a:prstGeom prst="rect">
            <a:avLst/>
          </a:prstGeom>
          <a:solidFill>
            <a:srgbClr val="C2547A">
              <a:alpha val="45000"/>
            </a:srgbClr>
          </a:solidFill>
          <a:ln w="6350">
            <a:solidFill>
              <a:srgbClr val="EAB0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3429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시술 이력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11296" y="3429000"/>
            <a:ext cx="1325880" cy="347472"/>
          </a:xfrm>
          <a:prstGeom prst="rect">
            <a:avLst/>
          </a:prstGeom>
          <a:solidFill>
            <a:srgbClr val="C2547A">
              <a:alpha val="45000"/>
            </a:srgbClr>
          </a:solidFill>
          <a:ln w="6350">
            <a:solidFill>
              <a:srgbClr val="EAB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3429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예약 관리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6904" y="3429000"/>
            <a:ext cx="1325880" cy="347472"/>
          </a:xfrm>
          <a:prstGeom prst="rect">
            <a:avLst/>
          </a:prstGeom>
          <a:solidFill>
            <a:srgbClr val="C2547A">
              <a:alpha val="45000"/>
            </a:srgbClr>
          </a:solidFill>
          <a:ln w="6350">
            <a:solidFill>
              <a:srgbClr val="EAB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6904" y="3429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매출 분석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82512" y="3429000"/>
            <a:ext cx="1325880" cy="347472"/>
          </a:xfrm>
          <a:prstGeom prst="rect">
            <a:avLst/>
          </a:prstGeom>
          <a:solidFill>
            <a:srgbClr val="C2547A">
              <a:alpha val="45000"/>
            </a:srgbClr>
          </a:solidFill>
          <a:ln w="6350">
            <a:solidFill>
              <a:srgbClr val="EAB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429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사진 관리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18120" y="3429000"/>
            <a:ext cx="1325880" cy="347472"/>
          </a:xfrm>
          <a:prstGeom prst="rect">
            <a:avLst/>
          </a:prstGeom>
          <a:solidFill>
            <a:srgbClr val="C2547A">
              <a:alpha val="45000"/>
            </a:srgbClr>
          </a:solidFill>
          <a:ln w="6350">
            <a:solidFill>
              <a:srgbClr val="EAB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429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예외 처리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5577"/>
                </a:solidFill>
              </a:rPr>
              <a:t>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10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목  차  INDEX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8503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프로젝트 개요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1795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목적 / 사용자 / 범위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18488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184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16916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사용자 페르소나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0208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특성 / 니즈 / 페인포인트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59736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5973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25328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전체 기능 구조 (IA)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8620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모듈 / 하위 기능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0098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00984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009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33741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고객 프로필 관리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703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기본정보 / 시술이력 / 사진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42232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422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" y="42153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예약 관리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" y="45445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등록 필드 / 상태 흐름 / 알림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77724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777240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7772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13248" y="8503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매출 관리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11795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결제 기록 / 선불금 / 통계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61848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618488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16184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13248" y="16916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검색 &amp; 필터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13248" y="20208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검색 방식 / 필터 조건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45973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459736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245973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13248" y="25328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모바일/태블릿 UX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28620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반응형 설계 / 오프라인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30098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300984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3009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09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413248" y="33741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예외 처리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13248" y="3703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입력 오류 / 시스템 예외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1422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142232"/>
            <a:ext cx="548640" cy="71323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41422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413248" y="42153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데이터 보안 &amp; 백업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13248" y="45445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암호화 / 백업 / 삭제 정책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  프로젝트 개요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011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2011680" cy="411480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13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목적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미용사 1인이 고객 정보를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체계적으로 관리하고 재방문율을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높이기 위한 개인용 디지털 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713232"/>
            <a:ext cx="2011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13232"/>
            <a:ext cx="2011680" cy="41148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713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대상 사용자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7752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헤어샵 운영 1인 미용사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프리랜서 / 1인샵 원장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7752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기술보다 실용성 중시 사용자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713232"/>
            <a:ext cx="2011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713232"/>
            <a:ext cx="2011680" cy="41148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713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플랫폼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4024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모바일/태블릿 반응형 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PWA (오프라인 지원)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4024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iOS · Android 브라우저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713232"/>
            <a:ext cx="2011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713232"/>
            <a:ext cx="2011680" cy="41148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24" name="Text 22"/>
          <p:cNvSpPr/>
          <p:nvPr/>
        </p:nvSpPr>
        <p:spPr>
          <a:xfrm>
            <a:off x="6803136" y="713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핵심 가치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0296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빠른 입력 (최대 3탭)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0296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직관적 UI (비기술 사용자)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0296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028"/>
                </a:solidFill>
              </a:rPr>
              <a:t>오프라인 부분 지원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26864"/>
            <a:ext cx="8595360" cy="365760"/>
          </a:xfrm>
          <a:prstGeom prst="rect">
            <a:avLst/>
          </a:prstGeom>
          <a:solidFill>
            <a:srgbClr val="FFF0F0"/>
          </a:solidFill>
          <a:ln w="6350">
            <a:solidFill>
              <a:srgbClr val="E05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268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070"/>
                </a:solidFill>
              </a:rPr>
              <a:t>⚠  범위 제외: 다중 계정 관리  |  POS 직접 연동  |  네이버·카카오 예약 플랫폼 연동  |  재고 관리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  사용자 페르소나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822960"/>
            <a:ext cx="2103120" cy="2103120"/>
          </a:xfrm>
          <a:prstGeom prst="ellipse">
            <a:avLst/>
          </a:prstGeom>
          <a:solidFill>
            <a:srgbClr val="F0EBF0"/>
          </a:solidFill>
          <a:ln w="19050">
            <a:solidFill>
              <a:srgbClr val="C254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0" dirty="0">
                <a:solidFill>
                  <a:srgbClr val="000000"/>
                </a:solidFill>
              </a:rPr>
              <a:t>✂</a:t>
            </a:r>
            <a:endParaRPr lang="en-US" sz="650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028"/>
                </a:solidFill>
              </a:rPr>
              <a:t>김미용  (35세)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470"/>
                </a:solidFill>
              </a:rPr>
              <a:t>1인 헤어샵 운영 7년차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547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5470"/>
                </a:solidFill>
              </a:rPr>
              <a:t>경기도 분당 소재 10평 1인샵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858768"/>
            <a:ext cx="777240" cy="640080"/>
          </a:xfrm>
          <a:prstGeom prst="rect">
            <a:avLst/>
          </a:prstGeom>
          <a:solidFill>
            <a:srgbClr val="F0EBF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8587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47A"/>
                </a:solidFill>
              </a:rPr>
              <a:t>10명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2245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5470"/>
                </a:solidFill>
              </a:rPr>
              <a:t>일 평균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34440" y="3858768"/>
            <a:ext cx="777240" cy="640080"/>
          </a:xfrm>
          <a:prstGeom prst="rect">
            <a:avLst/>
          </a:prstGeom>
          <a:solidFill>
            <a:srgbClr val="F0EBF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8587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47A"/>
                </a:solidFill>
              </a:rPr>
              <a:t>60%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245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5470"/>
                </a:solidFill>
              </a:rPr>
              <a:t>단골 비율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03120" y="3858768"/>
            <a:ext cx="777240" cy="640080"/>
          </a:xfrm>
          <a:prstGeom prst="rect">
            <a:avLst/>
          </a:prstGeom>
          <a:solidFill>
            <a:srgbClr val="F0EBF0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8587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47A"/>
                </a:solidFill>
              </a:rPr>
              <a:t>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42245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5470"/>
                </a:solidFill>
              </a:rPr>
              <a:t>노쇼율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685800"/>
            <a:ext cx="5577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685800"/>
            <a:ext cx="64008" cy="1371600"/>
          </a:xfrm>
          <a:prstGeom prst="rect">
            <a:avLst/>
          </a:prstGeom>
          <a:solidFill>
            <a:srgbClr val="E0507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777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070"/>
                </a:solidFill>
              </a:rPr>
              <a:t>😤  페인 포인트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1088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고객 시술 이력 수첩 기록 중 분실 경험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13258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단골 재방문 주기 파악 어려움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15636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시술 사진 카카오톡 분산 저장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18013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예약 노쇼 시 매출 손실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2148840"/>
            <a:ext cx="5577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148840"/>
            <a:ext cx="64008" cy="137160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</a:rPr>
              <a:t>✅  니즈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25511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고객별 시술 이력 한눈에 조회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0" y="27889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시술 전·후 사진 고객별 정리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4720" y="30266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재방문 알림 자동화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0" y="32644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예약-매출 연결 통계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3611880"/>
            <a:ext cx="5577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611880"/>
            <a:ext cx="64008" cy="137160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3703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D6"/>
                </a:solidFill>
              </a:rPr>
              <a:t>📱  기술 수준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40142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스마트폰 일상적 사용 능숙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74720" y="42519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카카오톡·인스타그램 익숙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74720" y="44897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엑셀 불익숙 → 단순 UI 필요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74720" y="47274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터치 기반 빠른 입력 선호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03  전체 기능 구조 (Information Architecture)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703320" y="685800"/>
            <a:ext cx="1737360" cy="457200"/>
          </a:xfrm>
          <a:prstGeom prst="rect">
            <a:avLst/>
          </a:prstGeom>
          <a:solidFill>
            <a:srgbClr val="1B10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03320" y="685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앱 메인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1554480" cy="621792"/>
          </a:xfrm>
          <a:prstGeom prst="rect">
            <a:avLst/>
          </a:prstGeom>
          <a:solidFill>
            <a:srgbClr val="C2547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4173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고객 관리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0" cy="274320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417320"/>
            <a:ext cx="1554480" cy="621792"/>
          </a:xfrm>
          <a:prstGeom prst="rect">
            <a:avLst/>
          </a:prstGeom>
          <a:solidFill>
            <a:srgbClr val="7C4F7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4173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예약 관리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1143000"/>
            <a:ext cx="0" cy="274320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417320"/>
            <a:ext cx="1554480" cy="621792"/>
          </a:xfrm>
          <a:prstGeom prst="rect">
            <a:avLst/>
          </a:prstGeom>
          <a:solidFill>
            <a:srgbClr val="E8965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4173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매출 관리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0" cy="274320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417320"/>
            <a:ext cx="1554480" cy="621792"/>
          </a:xfrm>
          <a:prstGeom prst="rect">
            <a:avLst/>
          </a:prstGeom>
          <a:solidFill>
            <a:srgbClr val="5B8FD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4173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사진 관리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1143000"/>
            <a:ext cx="0" cy="274320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417320"/>
            <a:ext cx="1554480" cy="621792"/>
          </a:xfrm>
          <a:prstGeom prst="rect">
            <a:avLst/>
          </a:prstGeom>
          <a:solidFill>
            <a:srgbClr val="4CAF7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14173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⚙️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설정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49640" y="1143000"/>
            <a:ext cx="0" cy="274320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1143000"/>
            <a:ext cx="7269480" cy="0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143000"/>
            <a:ext cx="0" cy="-47548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2039112"/>
            <a:ext cx="0" cy="20116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24028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240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고객 등록/수정/삭제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74320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기본 정보 입력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324612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시술 이력 조회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374904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749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메모 &amp; 태그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425196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251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블랙리스트 관리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80360" y="2039112"/>
            <a:ext cx="0" cy="20116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224028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2240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예약 등록/수정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03120" y="274320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캘린더 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324612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76272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예약 상태 관리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03120" y="374904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76272" y="3749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노쇼 처리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03120" y="425196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76272" y="4251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예약 알림 설정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039112"/>
            <a:ext cx="0" cy="20116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224028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2240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매출 등록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0" y="274320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96512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결제 수단 기록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23360" y="324612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일·월 통계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023360" y="374904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96512" y="3749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시술별 분석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023360" y="425196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96512" y="4251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선불금 관리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20840" y="2039112"/>
            <a:ext cx="0" cy="20116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224028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16752" y="2240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시술 전·후 사진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43600" y="274320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16752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고객별 앨범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43600" y="324612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16752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날짜별 정렬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43600" y="374904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16752" y="3749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Before/After 비교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43600" y="425196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16752" y="4251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공유 기능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549640" y="2039112"/>
            <a:ext cx="0" cy="20116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2400" y="224028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45552" y="2240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시술 메뉴 등록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772400" y="274320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45552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가격표 설정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72400" y="324612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45552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알림 시간 설정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772400" y="3749040"/>
            <a:ext cx="1554480" cy="438912"/>
          </a:xfrm>
          <a:prstGeom prst="rect">
            <a:avLst/>
          </a:prstGeom>
          <a:solidFill>
            <a:srgbClr val="F0EBF0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45552" y="3749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데이터 백업/내보내기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772400" y="4251960"/>
            <a:ext cx="1554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8D5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45552" y="4251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·  개인정보 설정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 고객 프로필 관리 — 기본 정보 필드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732520" cy="347472"/>
          </a:xfrm>
          <a:prstGeom prst="rect">
            <a:avLst/>
          </a:prstGeom>
          <a:solidFill>
            <a:srgbClr val="1B10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8368"/>
            <a:ext cx="13716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필드명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658368"/>
            <a:ext cx="9144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타입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658368"/>
            <a:ext cx="85039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필수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658368"/>
            <a:ext cx="5303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설명 / 규칙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이름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0058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텍스트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3472" y="10058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필수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0058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최대 20자, 한글/영문/숫자 허용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348740"/>
            <a:ext cx="8732520" cy="338328"/>
          </a:xfrm>
          <a:prstGeom prst="rect">
            <a:avLst/>
          </a:prstGeom>
          <a:solidFill>
            <a:srgbClr val="FA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487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연락처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13487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전화번호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13487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필수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13487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010-XXXX-XXXX 형식 자동 포맷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691640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6916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생년월일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16916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날짜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33472" y="16916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16916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생일 알림 기준값으로 활용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34540"/>
            <a:ext cx="8732520" cy="338328"/>
          </a:xfrm>
          <a:prstGeom prst="rect">
            <a:avLst/>
          </a:prstGeom>
          <a:solidFill>
            <a:srgbClr val="FA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0345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성별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20345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33472" y="20345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20345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남 / 여 / 선택 안 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377440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774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고객 등급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23774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자동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33472" y="23774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FD6"/>
                </a:solidFill>
              </a:rPr>
              <a:t>자동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23774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신규/일반/단골/VIP — 방문 횟수 기준 자동 산정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720340"/>
            <a:ext cx="8732520" cy="338328"/>
          </a:xfrm>
          <a:prstGeom prst="rect">
            <a:avLst/>
          </a:prstGeom>
          <a:solidFill>
            <a:srgbClr val="FA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203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유입 경로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27203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33472" y="27203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27203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지인 소개 / SNS / 인터넷 검색 / 직접 방문 / 기타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063240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632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알레르기·주의사항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91640" y="30632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텍스트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33472" y="30632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20440" y="30632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최대 200자 — 고객 카드 상단 경고 배너로 항상 표시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3406140"/>
            <a:ext cx="8732520" cy="338328"/>
          </a:xfrm>
          <a:prstGeom prst="rect">
            <a:avLst/>
          </a:prstGeom>
          <a:solidFill>
            <a:srgbClr val="FA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4061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내부 메모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91640" y="34061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텍스트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33472" y="34061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20440" y="34061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비공개 필드, 최대 500자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749040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7490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태그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91640" y="37490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멀티선택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633472" y="37490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선택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520440" y="37490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자유 태그 생성, 최대 5개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091940"/>
            <a:ext cx="8732520" cy="338328"/>
          </a:xfrm>
          <a:prstGeom prst="rect">
            <a:avLst/>
          </a:prstGeom>
          <a:solidFill>
            <a:srgbClr val="FA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0919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등록일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691640" y="40919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날짜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633472" y="40919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FD6"/>
                </a:solidFill>
              </a:rPr>
              <a:t>자동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520440" y="40919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최초 등록 시 자동 입력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4434840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4348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최종 방문일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691640" y="44348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날짜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33472" y="44348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FD6"/>
                </a:solidFill>
              </a:rPr>
              <a:t>자동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520440" y="44348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완료 시 자동 갱신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4777740"/>
            <a:ext cx="8732520" cy="338328"/>
          </a:xfrm>
          <a:prstGeom prst="rect">
            <a:avLst/>
          </a:prstGeom>
          <a:solidFill>
            <a:srgbClr val="FA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777740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누적 방문 횟수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691640" y="4777740"/>
            <a:ext cx="9144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숫자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633472" y="4777740"/>
            <a:ext cx="850392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FD6"/>
                </a:solidFill>
              </a:rPr>
              <a:t>자동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520440" y="4777740"/>
            <a:ext cx="53035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기록 생성 시 +1 자동 카운트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74320" y="4846320"/>
            <a:ext cx="8732520" cy="256032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470"/>
                </a:solidFill>
              </a:rPr>
              <a:t>💡 중복 연락처 감지: 저장 전 기존 고객 확인 팝업  |  ⚡ 빠른 등록: 이름 + 연락처만으로 즉시 저장 (나머지 후입력)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 고객 프로필 관리 — 시술 이력 필드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470"/>
                </a:solidFill>
              </a:rPr>
              <a:t>방문 1회 = 시술 기록 1건. 고객 카드에서 타임라인으로 조회.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8732520" cy="34747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50392"/>
            <a:ext cx="169164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시술 필드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850392"/>
            <a:ext cx="868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타입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850392"/>
            <a:ext cx="8229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필수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94760" y="850392"/>
            <a:ext cx="5120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설명 / 규칙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97864"/>
            <a:ext cx="8732520" cy="3246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97864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날짜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1197864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날짜+시간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1197864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필수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94760" y="1197864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예약 연동 시 자동 입력 / 수동 수정 가능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525219"/>
            <a:ext cx="8732520" cy="324612"/>
          </a:xfrm>
          <a:prstGeom prst="rect">
            <a:avLst/>
          </a:prstGeom>
          <a:solidFill>
            <a:srgbClr val="FE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525219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메뉴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1525219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멀티선택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0" y="1525219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필수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94760" y="1525219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커트·염색·펌·클리닉·드라이 등 사전 등록 메뉴 멀티 선택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852574"/>
            <a:ext cx="8732520" cy="3246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852574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세부내용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1852574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텍스트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0" y="1852574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94760" y="1852574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ex. '7레벨 애쉬블루, 중간 허리 길이'  최대 300자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79930"/>
            <a:ext cx="8732520" cy="324612"/>
          </a:xfrm>
          <a:prstGeom prst="rect">
            <a:avLst/>
          </a:prstGeom>
          <a:solidFill>
            <a:srgbClr val="FE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9930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사용 약품·제품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11680" y="2179930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텍스트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26080" y="2179930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94760" y="2179930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브랜드명 + 제품명 + 농도 자유 기록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07285"/>
            <a:ext cx="8732520" cy="3246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07285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소요 시간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11680" y="2507285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숫자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0" y="2507285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94760" y="2507285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분 단위 입력  ex. 90분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834640"/>
            <a:ext cx="8732520" cy="324612"/>
          </a:xfrm>
          <a:prstGeom prst="rect">
            <a:avLst/>
          </a:prstGeom>
          <a:solidFill>
            <a:srgbClr val="FE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834640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결제 금액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11680" y="2834640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숫자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926080" y="2834640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필수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794760" y="2834640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메뉴 연동 기본가 자동 불러오기, 수동 수정 가능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161995"/>
            <a:ext cx="8732520" cy="3246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161995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할인 금액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11680" y="3161995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숫자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926080" y="3161995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94760" y="3161995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금액 or 비율 입력, 할인 사유 텍스트 기록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489350"/>
            <a:ext cx="8732520" cy="324612"/>
          </a:xfrm>
          <a:prstGeom prst="rect">
            <a:avLst/>
          </a:prstGeom>
          <a:solidFill>
            <a:srgbClr val="FE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489350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결제 수단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011680" y="3489350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26080" y="3489350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필수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94760" y="3489350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현금 / 카드 / 계좌이체 / 선불금 차감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816706"/>
            <a:ext cx="8732520" cy="3246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816706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다음 방문 권장일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011680" y="3816706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날짜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926080" y="3816706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794760" y="3816706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재방문 알림 기준값 — 미입력 시 최종 시술일 +28일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144061"/>
            <a:ext cx="8732520" cy="324612"/>
          </a:xfrm>
          <a:prstGeom prst="rect">
            <a:avLst/>
          </a:prstGeom>
          <a:solidFill>
            <a:srgbClr val="FE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144061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전·후 사진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011680" y="4144061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이미지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926080" y="4144061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794760" y="4144061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최대 10장, 갤러리 연동 또는 카메라 직접 촬영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471416"/>
            <a:ext cx="8732520" cy="3246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471416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담당 디자이너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011680" y="4471416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텍스트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926080" y="4471416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8FD6"/>
                </a:solidFill>
              </a:rPr>
              <a:t>자동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794760" y="4471416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본인 이름 자동 입력, 수동 수정 가능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4798771"/>
            <a:ext cx="8732520" cy="324612"/>
          </a:xfrm>
          <a:prstGeom prst="rect">
            <a:avLst/>
          </a:prstGeom>
          <a:solidFill>
            <a:srgbClr val="FEF5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798771"/>
            <a:ext cx="1691640" cy="3246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특이사항·메모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011680" y="4798771"/>
            <a:ext cx="86868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텍스트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926080" y="4798771"/>
            <a:ext cx="82296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선택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794760" y="4798771"/>
            <a:ext cx="5120640" cy="3246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두피 상태, 고객 반응, 다음 시술 시 주의사항  최대 400자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 고객 프로필 관리 — 사진 관리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5720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64008" cy="201168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49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FD6"/>
                </a:solidFill>
              </a:rPr>
              <a:t>📷  업로드 규칙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시술 기록 1건당 최대 10장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지원 형식: JPG / PNG / HEIC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파일 크기: 장당 최대 10MB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갤러리 연동 + 카메라 바로 촬영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업로드 후 자동 압축 (원본 옵션 보존)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07208"/>
            <a:ext cx="45720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07208"/>
            <a:ext cx="64008" cy="201168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98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F7E"/>
                </a:solidFill>
              </a:rPr>
              <a:t>🖼  분류 &amp; 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64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고객 카드 '사진 탭' — 날짜 타임라인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시술 기록과 연동 (날짜·메뉴 자동 태그)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Before / After 좌우 슬라이드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날짜·시술 항목별 정렬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전체 고객 사진 갤러리 통합 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658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28"/>
                </a:solidFill>
              </a:rPr>
              <a:t>사진 예외 처리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005840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0424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파일 크기 초과 (10MB+)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12527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업로드 차단 + '10MB 이하 파일만 가능' 인라인 안내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1600200"/>
            <a:ext cx="3749040" cy="530352"/>
          </a:xfrm>
          <a:prstGeom prst="rect">
            <a:avLst/>
          </a:prstGeom>
          <a:solidFill>
            <a:srgbClr val="F0EBF0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636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지원 안 되는 형식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1847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업로드 차단 + 'JPG/PNG/HEIC만 지원' 안내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2194560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11장 이상 업로드 시도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2441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버튼 비활성화 + '최대 10장' 툴팁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2788920"/>
            <a:ext cx="3749040" cy="530352"/>
          </a:xfrm>
          <a:prstGeom prst="rect">
            <a:avLst/>
          </a:prstGeom>
          <a:solidFill>
            <a:srgbClr val="F0EBF0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825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저장 용량 부족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3035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업로드 전 용량 확인 → 초과 시 경고 + 삭제 안내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74920" y="3383280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419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사진 삭제 요청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36301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삭제 전 확인 다이얼로그 + '복구 불가' 명시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74920" y="3977640"/>
            <a:ext cx="3749040" cy="530352"/>
          </a:xfrm>
          <a:prstGeom prst="rect">
            <a:avLst/>
          </a:prstGeom>
          <a:solidFill>
            <a:srgbClr val="F0EBF0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0142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동일 사진 중복 업로드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42245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해시 비교로 중복 감지 → '이미 등록된 사진' 경고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74920" y="4572000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608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오프라인 업로드 시도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4818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로컬 임시 저장 → 온라인 복구 시 자동 동기화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05  예약 관리 — 등록 필드 &amp; 상태 흐름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5029200" cy="329184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583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 등록 필드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0292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875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고객명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65960" y="9875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기존 고객 선택 or 이름 직접 입력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5029200" cy="438912"/>
          </a:xfrm>
          <a:prstGeom prst="rect">
            <a:avLst/>
          </a:prstGeom>
          <a:solidFill>
            <a:srgbClr val="F5F0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447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연락처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65960" y="1444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고객 선택 시 자동 연동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50292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019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날짜 &amp; 시간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19019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달력 선택 + 30분 단위 타임슬롯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5029200" cy="438912"/>
          </a:xfrm>
          <a:prstGeom prst="rect">
            <a:avLst/>
          </a:prstGeom>
          <a:solidFill>
            <a:srgbClr val="F5F0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591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시술 메뉴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23591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멀티선택, 예상 소요 시간 자동 계산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50292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163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예상 금액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5960" y="28163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메뉴 기반 자동 산출, 수동 수정 가능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73552"/>
            <a:ext cx="5029200" cy="438912"/>
          </a:xfrm>
          <a:prstGeom prst="rect">
            <a:avLst/>
          </a:prstGeom>
          <a:solidFill>
            <a:srgbClr val="F5F0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2735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고객 요청사항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32735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최대 200자 자유 입력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50292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7307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알림 설정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65960" y="3730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예약 전날 오후 8시 + 당일 오전 9시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87952"/>
            <a:ext cx="5029200" cy="438912"/>
          </a:xfrm>
          <a:prstGeom prst="rect">
            <a:avLst/>
          </a:prstGeom>
          <a:solidFill>
            <a:srgbClr val="F5F0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1879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4F7E"/>
                </a:solidFill>
              </a:rPr>
              <a:t>예약 상태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5960" y="41879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대기 / 확정 / 완료 / 취소 / 노쇼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6583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F7E"/>
                </a:solidFill>
              </a:rPr>
              <a:t>예약 상태 흐름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1051560"/>
            <a:ext cx="1234440" cy="50292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 대기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→ 확정 or 취소 선택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0488" y="1554480"/>
            <a:ext cx="0" cy="10972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1801368"/>
            <a:ext cx="1234440" cy="50292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18013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확정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0" y="1801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→ 완료 / 취소 / 노쇼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0488" y="2304288"/>
            <a:ext cx="0" cy="10972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2551176"/>
            <a:ext cx="1234440" cy="50292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25511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🎉  완료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49440" y="25511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→ 시술 기록 자동 생성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90488" y="3054096"/>
            <a:ext cx="0" cy="10972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77840" y="3300984"/>
            <a:ext cx="1234440" cy="502920"/>
          </a:xfrm>
          <a:prstGeom prst="rect">
            <a:avLst/>
          </a:prstGeom>
          <a:solidFill>
            <a:srgbClr val="E05070"/>
          </a:solidFill>
          <a:ln/>
        </p:spPr>
      </p:sp>
      <p:sp>
        <p:nvSpPr>
          <p:cNvPr id="44" name="Text 42"/>
          <p:cNvSpPr/>
          <p:nvPr/>
        </p:nvSpPr>
        <p:spPr>
          <a:xfrm>
            <a:off x="5577840" y="33009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취소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49440" y="33009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→ 종료 (재예약 안내)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90488" y="3803904"/>
            <a:ext cx="0" cy="109728"/>
          </a:xfrm>
          <a:prstGeom prst="line">
            <a:avLst/>
          </a:prstGeom>
          <a:noFill/>
          <a:ln w="10160">
            <a:solidFill>
              <a:srgbClr val="5C54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7840" y="4050792"/>
            <a:ext cx="1234440" cy="502920"/>
          </a:xfrm>
          <a:prstGeom prst="rect">
            <a:avLst/>
          </a:prstGeom>
          <a:solidFill>
            <a:srgbClr val="9B4F4F"/>
          </a:solidFill>
          <a:ln/>
        </p:spPr>
      </p:sp>
      <p:sp>
        <p:nvSpPr>
          <p:cNvPr id="48" name="Text 46"/>
          <p:cNvSpPr/>
          <p:nvPr/>
        </p:nvSpPr>
        <p:spPr>
          <a:xfrm>
            <a:off x="5577840" y="405079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👻  노쇼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949440" y="4050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→ 노쇼 카운트 +1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77840" y="4663440"/>
            <a:ext cx="338328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050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4663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070"/>
                </a:solidFill>
              </a:rPr>
              <a:t>⚠  노쇼 3회 이상: 예약 등록 시 경고 배너 자동 표시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05  예약 관리 — 알림 &amp; 리마인더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4206240" cy="41148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예약 리마인더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161288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61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발송 시점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161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예약 전날 오후 8시  +  당일 오전 9시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581912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819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발송 채널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581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앱 푸시 알림 (SMS 외부 연동 선택)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002536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02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내용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002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고객명 / 예약 시간 / 시술 메뉴 포함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423160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423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옵션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고객별 알림 ON/OFF 개별 설정 가능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658368"/>
            <a:ext cx="42062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658368"/>
            <a:ext cx="4206240" cy="411480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658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재방문 알림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18888" y="1161288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161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47A"/>
                </a:solidFill>
              </a:rPr>
              <a:t>발송 시점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161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권장 재방문일 D-3, D-0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18888" y="1581912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5819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47A"/>
                </a:solidFill>
              </a:rPr>
              <a:t>기준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581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기록의 '다음 방문 권장일' 필드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18888" y="2002536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002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47A"/>
                </a:solidFill>
              </a:rPr>
              <a:t>기본값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002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미설정 시 최종 시술일 + 28일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18888" y="2423160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423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47A"/>
                </a:solidFill>
              </a:rPr>
              <a:t>내용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"○○님, 다음 시술 기간이 다가왔어요"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017520"/>
            <a:ext cx="42062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🎂  생일 알림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4048" y="3520440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발송 시점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9164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생일 당일 오전 10시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" y="3941064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조건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9164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고객 프로필에 생년월일 등록 필수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4361688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3616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내용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91640" y="4361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생일 메시지 템플릿 3종 중 선택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4782312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47823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활용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691640" y="4782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생일 할인 안내 문자 연동 가능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3017520"/>
            <a:ext cx="42062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017520"/>
            <a:ext cx="4206240" cy="411480"/>
          </a:xfrm>
          <a:prstGeom prst="rect">
            <a:avLst/>
          </a:prstGeom>
          <a:solidFill>
            <a:srgbClr val="E05070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노쇼 경고 알림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18888" y="3520440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감지 조건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2648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예약 시간 30분 경과 후 미방문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18888" y="3941064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73752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동작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2648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'노쇼' 상태 변경 확인 팝업 표시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18888" y="4361688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73752" y="43616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기록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26480" y="4361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고객 프로필 노쇼 카운트 +1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18888" y="4782312"/>
            <a:ext cx="3977640" cy="384048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73752" y="47823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경고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26480" y="4782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3회 이상 시 예약 등록 경고 배너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06  매출 관리 — 결제 기록 &amp; 통계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470"/>
                </a:solidFill>
              </a:rPr>
              <a:t>시술 완료 → 매출 기록 자동 생성  |  수동 추가도 가능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4572000" cy="329184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503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매출 기록 필드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9576"/>
            <a:ext cx="4572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795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날짜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1795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 완료 일시 자동 입력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63624"/>
            <a:ext cx="4572000" cy="365760"/>
          </a:xfrm>
          <a:prstGeom prst="rect">
            <a:avLst/>
          </a:prstGeom>
          <a:solidFill>
            <a:srgbClr val="FFF8F2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636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고객명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5636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연결된 고객 자동 표시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47672"/>
            <a:ext cx="4572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47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시술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복수 항목 가능  ex. 커트 + 염색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572000" cy="365760"/>
          </a:xfrm>
          <a:prstGeom prst="rect">
            <a:avLst/>
          </a:prstGeom>
          <a:solidFill>
            <a:srgbClr val="FFF8F2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단가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항목별 개별 가격 기록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15768"/>
            <a:ext cx="4572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15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합계 금액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2715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단가 합산 자동 계산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99816"/>
            <a:ext cx="4572000" cy="365760"/>
          </a:xfrm>
          <a:prstGeom prst="rect">
            <a:avLst/>
          </a:prstGeom>
          <a:solidFill>
            <a:srgbClr val="FFF8F2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할인 금액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099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금액/비율 입력 + 할인 사유 기록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83864"/>
            <a:ext cx="4572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4838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최종 결제액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34838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합계 − 할인 자동 계산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867912"/>
            <a:ext cx="4572000" cy="365760"/>
          </a:xfrm>
          <a:prstGeom prst="rect">
            <a:avLst/>
          </a:prstGeom>
          <a:solidFill>
            <a:srgbClr val="FFF8F2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867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결제 수단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91640" y="3867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현금 / 카드 / 계좌이체 / 선불금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4572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선불금 잔액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9164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선불금 결제 시 차감 후 잔액 표시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636008"/>
            <a:ext cx="4572000" cy="365760"/>
          </a:xfrm>
          <a:prstGeom prst="rect">
            <a:avLst/>
          </a:prstGeom>
          <a:solidFill>
            <a:srgbClr val="FFF8F2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636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영수증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4636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문자 영수증 발송 여부 선택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8503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20640" y="850392"/>
            <a:ext cx="64008" cy="219456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5A"/>
                </a:solidFill>
              </a:rPr>
              <a:t>📊  통계 기능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일별 매출 합계 조회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월별 매출 추이 (바 차트)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03520" y="20208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시술 항목별 매출 비중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03520" y="23682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고객별 누적 결제액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결제 수단 비율 분석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120640" y="322783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120640" y="3227832"/>
            <a:ext cx="64008" cy="219456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F7E"/>
                </a:solidFill>
              </a:rPr>
              <a:t>💳  선불금 관리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035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고객별 선불금 충전 이력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0352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사용 시 자동 차감 처리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03520" y="4398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잔액 부족 시 경고 + 추가 충전 안내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30352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잔액 0원 → 다른 결제 수단으로 전환 안내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07  검색 &amp; 필터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F0EB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547A"/>
                </a:solidFill>
              </a:rPr>
              <a:t>이름 검색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초성 검색 지원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(예: 'ㄱㅁ' → 김미용)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658368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9232" y="777240"/>
            <a:ext cx="914400" cy="914400"/>
          </a:xfrm>
          <a:prstGeom prst="ellipse">
            <a:avLst/>
          </a:prstGeom>
          <a:solidFill>
            <a:srgbClr val="F0EBF0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547A"/>
                </a:solidFill>
              </a:rPr>
              <a:t>연락처 검색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뒷 4자리만 입력으로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고객 조회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658368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75504" y="777240"/>
            <a:ext cx="914400" cy="914400"/>
          </a:xfrm>
          <a:prstGeom prst="ellipse">
            <a:avLst/>
          </a:prstGeom>
          <a:solidFill>
            <a:srgbClr val="F0EBF0"/>
          </a:solidFill>
          <a:ln/>
        </p:spPr>
      </p:sp>
      <p:sp>
        <p:nvSpPr>
          <p:cNvPr id="16" name="Text 14"/>
          <p:cNvSpPr/>
          <p:nvPr/>
        </p:nvSpPr>
        <p:spPr>
          <a:xfrm>
            <a:off x="5175504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547A"/>
                </a:solidFill>
              </a:rPr>
              <a:t>태그 검색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26864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등록 태그 탭으로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해당 고객 필터링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658368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51776" y="777240"/>
            <a:ext cx="914400" cy="914400"/>
          </a:xfrm>
          <a:prstGeom prst="ellipse">
            <a:avLst/>
          </a:prstGeom>
          <a:solidFill>
            <a:srgbClr val="F0EB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51776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💇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03136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547A"/>
                </a:solidFill>
              </a:rPr>
              <a:t>시술 항목 검색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03136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특정 시술 받은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470"/>
                </a:solidFill>
              </a:rPr>
              <a:t>고객 목록 조회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60320"/>
            <a:ext cx="64008" cy="59436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FD6"/>
                </a:solidFill>
              </a:rPr>
              <a:t>🔎  검색 UX 규칙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입력 시작 즉시 실시간 필터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결과 없을 시 '해당 고객 없음 + 신규 등록' 버튼 표시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검색어 지우면 전체 목록 복원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337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028"/>
                </a:solidFill>
              </a:rPr>
              <a:t>필터 조건 (복합 필터 AND 적용)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3657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28"/>
                </a:solidFill>
              </a:rPr>
              <a:t>방문 횟수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74520" y="3685032"/>
            <a:ext cx="1325880" cy="310896"/>
          </a:xfrm>
          <a:prstGeom prst="rect">
            <a:avLst/>
          </a:prstGeom>
          <a:solidFill>
            <a:srgbClr val="C2547A"/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74520" y="36850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전체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3685032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6850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1회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685032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6850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2~5회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3685032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6850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6~10회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43800" y="3685032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36850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11회+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0782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28"/>
                </a:solidFill>
              </a:rPr>
              <a:t>마지막 방문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74520" y="4105656"/>
            <a:ext cx="1325880" cy="310896"/>
          </a:xfrm>
          <a:prstGeom prst="rect">
            <a:avLst/>
          </a:prstGeom>
          <a:solidFill>
            <a:srgbClr val="C2547A"/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74520" y="4105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전체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4105656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105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1주 이내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105656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105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1개월 이내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26480" y="4105656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4105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3개월 이내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43800" y="4105656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43800" y="4105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3개월 초과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4320" y="44988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28"/>
                </a:solidFill>
              </a:rPr>
              <a:t>고객 등급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874520" y="4526280"/>
            <a:ext cx="1325880" cy="310896"/>
          </a:xfrm>
          <a:prstGeom prst="rect">
            <a:avLst/>
          </a:prstGeom>
          <a:solidFill>
            <a:srgbClr val="C2547A"/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74520" y="4526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전체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91840" y="4526280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4526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신규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4526280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4526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일반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26480" y="4526280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4526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단골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543800" y="4526280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4526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VIP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74320" y="4919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28"/>
                </a:solidFill>
              </a:rPr>
              <a:t>노쇼 여부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874520" y="4946904"/>
            <a:ext cx="1325880" cy="310896"/>
          </a:xfrm>
          <a:prstGeom prst="rect">
            <a:avLst/>
          </a:prstGeom>
          <a:solidFill>
            <a:srgbClr val="C2547A"/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74520" y="49469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전체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91840" y="4946904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0" y="49469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없음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09160" y="4946904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49469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1~2회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26480" y="4946904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0" y="49469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3회+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74320" y="53400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28"/>
                </a:solidFill>
              </a:rPr>
              <a:t>정렬 기준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874520" y="5367528"/>
            <a:ext cx="1325880" cy="310896"/>
          </a:xfrm>
          <a:prstGeom prst="rect">
            <a:avLst/>
          </a:prstGeom>
          <a:solidFill>
            <a:srgbClr val="C2547A"/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74520" y="5367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최근 방문순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91840" y="5367528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91840" y="5367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이름순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709160" y="5367528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5367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방문 횟수순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26480" y="5367528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26480" y="5367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등록일순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08  모바일 / 태블릿 UX 설계 원칙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4206240" cy="411480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👆  터치 &amp; 탭 최적화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터치 타겟: 최소 48×48px 보장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주요 액션 버튼은 하단 고정 바 배치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스와이프로 이전/다음 레코드 탐색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3뎁스 이상 화면 진입 금지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롱프레스로 빠른 편집 메뉴 호출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658368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658368"/>
            <a:ext cx="4206240" cy="41148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658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⌨️  입력 최소화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170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즐겨찾기 메뉴 상단 고정 (최대 5개)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숫자 필드 → 숫자 키패드 자동 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865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고객명 자동완성 (2글자 이상 입력 시)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이전 시술 내용 '복사 등록' 지원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날짜 입력: 달력 피커 + '오늘' 버튼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 반응형 레이아웃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529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모바일(&lt;768px): 단일 컬럼 스크롤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8770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태블릿(768px+): 마스터-디테일 2분할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폰트: 모바일 14px / 태블릿 15px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이미지 갤러리: 모바일 2열 / 태블릿 3열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9194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고객 목록 + 프로필 동시 표시 (태블릿)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🔌  오프라인 지원 (PWA)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529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PWA 캐시로 고객 목록 오프라인 조회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770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오프라인 입력 → 큐 보관 → 온라인 시 자동 동기화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224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상단 오프라인 상태 표시 배너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572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동기화 실패 시 재시도 3회 후 사용자 알림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9194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028"/>
                </a:solidFill>
              </a:rPr>
              <a:t>·  충돌 발생 시 서버 데이터 우선 적용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09  예외 처리 — 입력 오류 &amp; 유효성 검증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732520" cy="338328"/>
          </a:xfrm>
          <a:prstGeom prst="rect">
            <a:avLst/>
          </a:prstGeom>
          <a:solidFill>
            <a:srgbClr val="1B10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8368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대상 필드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658368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예외 케이스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658368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처리 동작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996696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966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이름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91640" y="9966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공백 입력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9966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저장 버튼 비활성화 + '이름을 입력해 주세요' 인라인 오류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39596"/>
            <a:ext cx="8732520" cy="338328"/>
          </a:xfrm>
          <a:prstGeom prst="rect">
            <a:avLst/>
          </a:prstGeom>
          <a:solidFill>
            <a:srgbClr val="FFF8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395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이름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91640" y="13395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특수문자 포함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3395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입력 즉시 제거 + '한글·영문·숫자만 입력 가능' 안내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682496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824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연락처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91640" y="16824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형식 불일치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16824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010 시작 11자리 아닐 시 저장 차단 + 형식 안내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25396"/>
            <a:ext cx="8732520" cy="338328"/>
          </a:xfrm>
          <a:prstGeom prst="rect">
            <a:avLst/>
          </a:prstGeom>
          <a:solidFill>
            <a:srgbClr val="FFF8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0253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연락처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20253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중복 번호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0253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저장 전 확인 팝업 '○○님으로 등록된 번호 — 계속할까요?'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368296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682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생년월일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3682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미래 날짜 입력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23682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저장 차단 + '오늘 이전 날짜를 입력해 주세요'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711196"/>
            <a:ext cx="8732520" cy="338328"/>
          </a:xfrm>
          <a:prstGeom prst="rect">
            <a:avLst/>
          </a:prstGeom>
          <a:solidFill>
            <a:srgbClr val="FFF8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7111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결제 금액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91640" y="27111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0원 이하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27111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저장 차단 + '1원 이상이어야 합니다'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054096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540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결제 금액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91640" y="30540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비정상 고액 (100만원+)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83280" y="30540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소프트 경고 팝업 '○○원이 맞나요?' — 확인 후 저장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396996"/>
            <a:ext cx="8732520" cy="338328"/>
          </a:xfrm>
          <a:prstGeom prst="rect">
            <a:avLst/>
          </a:prstGeom>
          <a:solidFill>
            <a:srgbClr val="FFF8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3969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예약 시간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91640" y="33969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이미 예약된 슬롯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83280" y="33969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해당 슬롯 그레이아웃 + 선택 불가 처리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739896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398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태그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91640" y="37398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6개 이상 추가 시도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83280" y="37398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추가 버튼 비활성화 + '최대 5개까지 등록 가능' 툴팁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082796"/>
            <a:ext cx="8732520" cy="338328"/>
          </a:xfrm>
          <a:prstGeom prst="rect">
            <a:avLst/>
          </a:prstGeom>
          <a:solidFill>
            <a:srgbClr val="FFF8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0827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메모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691640" y="40827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글자 수 초과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383280" y="40827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실시간 글자 수 카운터 표시, 한도 도달 시 입력 차단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425696"/>
            <a:ext cx="87325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4256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사진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691640" y="44256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11장 이상 업로드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383280" y="44256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업로드 버튼 비활성화 + '기록 1건당 최대 10장' 안내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768596"/>
            <a:ext cx="8732520" cy="338328"/>
          </a:xfrm>
          <a:prstGeom prst="rect">
            <a:avLst/>
          </a:prstGeom>
          <a:solidFill>
            <a:srgbClr val="FFF8F8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768596"/>
            <a:ext cx="13716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선불금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691640" y="4768596"/>
            <a:ext cx="16459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70"/>
                </a:solidFill>
              </a:rPr>
              <a:t>잔액 부족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383280" y="4768596"/>
            <a:ext cx="557784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028"/>
                </a:solidFill>
              </a:rPr>
              <a:t>결제 차단 + 잔액/부족분 표시 + 추가 충전 or 결제 수단 변경 안내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09  예외 처리 — 시스템 · 데이터 예외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4206240" cy="411480"/>
          </a:xfrm>
          <a:prstGeom prst="rect">
            <a:avLst/>
          </a:prstGeom>
          <a:solidFill>
            <a:srgbClr val="E050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네트워크 오류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161288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요청 타임아웃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08176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로딩 스피너 표시 → 5초 후 '재시도' 버튼 노출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691640"/>
            <a:ext cx="3977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오프라인 전환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상단 배너 + 캐시 데이터 읽기만 허용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21992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94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70"/>
                </a:solidFill>
              </a:rPr>
              <a:t>동기화 충돌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서버 우선 적용 + 충돌 항목 목록 사용자 제시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658368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658368"/>
            <a:ext cx="4206240" cy="41148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658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💾  데이터 오류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4608" y="1161288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1887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고객 삭제 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408176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시술이력·예약·사진 전체 삭제 — 2단계 확인 필수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1691640"/>
            <a:ext cx="3977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190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앱 강제 종료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938528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30초 autosave → 재진입 시 '미저장 데이터 복구' 팝업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64608" y="2221992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2494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5A"/>
                </a:solidFill>
              </a:rPr>
              <a:t>메뉴 삭제 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468880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소프트 삭제(비활성화), 기존 기록 유지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834640"/>
            <a:ext cx="4206240" cy="41148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인증·보안 오류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4048" y="3337560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64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비밀번호 5회 오류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584448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15분 잠금 + 잠금 해제 이메일 발송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867912"/>
            <a:ext cx="3977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953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세션 만료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자동 로그아웃 → '세션 만료 재로그인 필요' 안내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" y="4398264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256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F7E"/>
                </a:solidFill>
              </a:rPr>
              <a:t>다중 기기 접근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45152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기존 기기 세션 종료 + 알림 발송 (보안 설정 연동)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834640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834640"/>
            <a:ext cx="4206240" cy="41148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✋  사용자 실수 방지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64608" y="3337560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364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예약/고객 삭제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3584448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확인 다이얼로그 + '복구 불가' 명시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64608" y="3867912"/>
            <a:ext cx="3977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8953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매출 기록 삭제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4114800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삭제 대신 '취소 처리' 상태 변경 (기록 보존)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64608" y="4398264"/>
            <a:ext cx="3977640" cy="502920"/>
          </a:xfrm>
          <a:prstGeom prst="rect">
            <a:avLst/>
          </a:prstGeom>
          <a:solidFill>
            <a:srgbClr val="F0EBF0"/>
          </a:solidFill>
          <a:ln w="3810">
            <a:solidFill>
              <a:srgbClr val="E8D5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4256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미저장 페이지 이탈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4645152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028"/>
                </a:solidFill>
              </a:rPr>
              <a:t>'변경 내용을 저장할까요?' 확인 팝업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0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 데이터 보안 &amp; 백업 정책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64008" cy="2240280"/>
          </a:xfrm>
          <a:prstGeom prst="rect">
            <a:avLst/>
          </a:prstGeom>
          <a:solidFill>
            <a:srgbClr val="7C4F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49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F7E"/>
                </a:solidFill>
              </a:rPr>
              <a:t>🔐  인증 방식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로그인: 이메일+비밀번호 / 소셜(카카오·구글)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앱 잠금: PIN 4자리 or 생체인증 (지문/Face ID)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자동 로그인: 30일 유지, 기기당 1세션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비밀번호 분실 → 이메일 재설정 링크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658368"/>
            <a:ext cx="64008" cy="2240280"/>
          </a:xfrm>
          <a:prstGeom prst="rect">
            <a:avLst/>
          </a:prstGeom>
          <a:solidFill>
            <a:srgbClr val="E0507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749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070"/>
                </a:solidFill>
              </a:rPr>
              <a:t>🛡  데이터 보호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133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전송 암호화: HTTPS / TLS 1.3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저장 암호화: 고객 개인정보 AES-256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개인정보 최소 수집 원칙 준수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개인정보처리방침 앱 내 상시 열람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64008" cy="224028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7D"/>
                </a:solidFill>
              </a:rPr>
              <a:t>💾  백업 정책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자동 백업: 매일 새벽 3시 클라우드 저장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877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수동 백업: CSV / JSON 내보내기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보관 기간: 최근 30일 자동 보관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645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복구: 특정 날짜 데이터 롤백 가능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206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64008" cy="224028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5A"/>
                </a:solidFill>
              </a:rPr>
              <a:t>🗑  삭제 정책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고객 삭제: 즉시 처리 + 30일 내 복구 가능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3877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계정 탈퇴: 30일 유예 후 완전 삭제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사진 삭제: 즉시 영구 삭제 (복구 불가)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4645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028"/>
                </a:solidFill>
              </a:rPr>
              <a:t>·  관련 법령: 개인정보보호법 준수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상태 정의 &amp; 핵심 플로우 요약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0C2"/>
                </a:solidFill>
              </a:rPr>
              <a:t>고객 등급 자동 산정 기준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16152"/>
            <a:ext cx="1965960" cy="59436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161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신규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16152"/>
            <a:ext cx="1965960" cy="5943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161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일반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2~5회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16152"/>
            <a:ext cx="1965960" cy="594360"/>
          </a:xfrm>
          <a:prstGeom prst="rect">
            <a:avLst/>
          </a:prstGeom>
          <a:solidFill>
            <a:srgbClr val="E8965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2161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단골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6~10회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216152"/>
            <a:ext cx="1965960" cy="594360"/>
          </a:xfrm>
          <a:prstGeom prst="rect">
            <a:avLst/>
          </a:prstGeom>
          <a:solidFill>
            <a:srgbClr val="C2547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2161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11회+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0C2"/>
                </a:solidFill>
              </a:rPr>
              <a:t>핵심 사용 플로우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1371600" cy="1097280"/>
          </a:xfrm>
          <a:prstGeom prst="ellipse">
            <a:avLst/>
          </a:prstGeom>
          <a:solidFill>
            <a:srgbClr val="2D1F42"/>
          </a:solidFill>
          <a:ln w="19050">
            <a:solidFill>
              <a:srgbClr val="C254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고객 등록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1325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B0C2"/>
                </a:solidFill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2926080"/>
            <a:ext cx="365760" cy="0"/>
          </a:xfrm>
          <a:prstGeom prst="line">
            <a:avLst/>
          </a:prstGeom>
          <a:noFill/>
          <a:ln w="19050">
            <a:solidFill>
              <a:srgbClr val="C254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2377440"/>
            <a:ext cx="1371600" cy="1097280"/>
          </a:xfrm>
          <a:prstGeom prst="ellipse">
            <a:avLst/>
          </a:prstGeom>
          <a:solidFill>
            <a:srgbClr val="2D1F42"/>
          </a:solidFill>
          <a:ln w="19050">
            <a:solidFill>
              <a:srgbClr val="C25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03120" y="34564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예약 등록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94560" y="2377440"/>
            <a:ext cx="1325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B0C2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66160" y="2926080"/>
            <a:ext cx="365760" cy="0"/>
          </a:xfrm>
          <a:prstGeom prst="line">
            <a:avLst/>
          </a:prstGeom>
          <a:noFill/>
          <a:ln w="19050">
            <a:solidFill>
              <a:srgbClr val="C254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2377440"/>
            <a:ext cx="1371600" cy="1097280"/>
          </a:xfrm>
          <a:prstGeom prst="ellipse">
            <a:avLst/>
          </a:prstGeom>
          <a:solidFill>
            <a:srgbClr val="2D1F42"/>
          </a:solidFill>
          <a:ln w="19050">
            <a:solidFill>
              <a:srgbClr val="C254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840480" y="34564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시술 완료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+ 사진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31920" y="2377440"/>
            <a:ext cx="1325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B0C2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2926080"/>
            <a:ext cx="365760" cy="0"/>
          </a:xfrm>
          <a:prstGeom prst="line">
            <a:avLst/>
          </a:prstGeom>
          <a:noFill/>
          <a:ln w="19050">
            <a:solidFill>
              <a:srgbClr val="C254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2377440"/>
            <a:ext cx="1371600" cy="1097280"/>
          </a:xfrm>
          <a:prstGeom prst="ellipse">
            <a:avLst/>
          </a:prstGeom>
          <a:solidFill>
            <a:srgbClr val="2D1F42"/>
          </a:solidFill>
          <a:ln w="19050">
            <a:solidFill>
              <a:srgbClr val="C254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77840" y="34564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매출 기록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자동 생성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2377440"/>
            <a:ext cx="1325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B0C2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40880" y="2926080"/>
            <a:ext cx="365760" cy="0"/>
          </a:xfrm>
          <a:prstGeom prst="line">
            <a:avLst/>
          </a:prstGeom>
          <a:noFill/>
          <a:ln w="19050">
            <a:solidFill>
              <a:srgbClr val="C254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2377440"/>
            <a:ext cx="1371600" cy="1097280"/>
          </a:xfrm>
          <a:prstGeom prst="ellipse">
            <a:avLst/>
          </a:prstGeom>
          <a:solidFill>
            <a:srgbClr val="2D1F42"/>
          </a:solidFill>
          <a:ln w="19050">
            <a:solidFill>
              <a:srgbClr val="C254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315200" y="34564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재방문 알림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설정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06640" y="2377440"/>
            <a:ext cx="1325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B0C2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206240"/>
            <a:ext cx="1600200" cy="822960"/>
          </a:xfrm>
          <a:prstGeom prst="rect">
            <a:avLst/>
          </a:prstGeom>
          <a:solidFill>
            <a:srgbClr val="C2547A">
              <a:alpha val="35000"/>
            </a:srgbClr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062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12+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74320" y="46451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기본 정보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입력 필드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0" y="4206240"/>
            <a:ext cx="1600200" cy="822960"/>
          </a:xfrm>
          <a:prstGeom prst="rect">
            <a:avLst/>
          </a:prstGeom>
          <a:solidFill>
            <a:srgbClr val="C2547A">
              <a:alpha val="35000"/>
            </a:srgbClr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42062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12+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2011680" y="46451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시술 이력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입력 항목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49040" y="4206240"/>
            <a:ext cx="1600200" cy="822960"/>
          </a:xfrm>
          <a:prstGeom prst="rect">
            <a:avLst/>
          </a:prstGeom>
          <a:solidFill>
            <a:srgbClr val="C2547A">
              <a:alpha val="35000"/>
            </a:srgbClr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42062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5가지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749040" y="46451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예약 상태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(노쇼 포함)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0" y="4206240"/>
            <a:ext cx="1600200" cy="822960"/>
          </a:xfrm>
          <a:prstGeom prst="rect">
            <a:avLst/>
          </a:prstGeom>
          <a:solidFill>
            <a:srgbClr val="C2547A">
              <a:alpha val="35000"/>
            </a:srgbClr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42062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12+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486400" y="46451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입력 예외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처리 케이스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23760" y="4206240"/>
            <a:ext cx="1600200" cy="822960"/>
          </a:xfrm>
          <a:prstGeom prst="rect">
            <a:avLst/>
          </a:prstGeom>
          <a:solidFill>
            <a:srgbClr val="C2547A">
              <a:alpha val="35000"/>
            </a:srgbClr>
          </a:solidFill>
          <a:ln w="10160">
            <a:solidFill>
              <a:srgbClr val="C254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42062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4가지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223760" y="46451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자동 알림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B0C2"/>
                </a:solidFill>
              </a:rPr>
              <a:t>유형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헤어샵 고객 관리 차트 상세 기획서</dc:title>
  <dc:subject>PptxGenJS Presentation</dc:subject>
  <dc:creator>PptxGenJS</dc:creator>
  <cp:lastModifiedBy>PptxGenJS</cp:lastModifiedBy>
  <cp:revision>1</cp:revision>
  <dcterms:created xsi:type="dcterms:W3CDTF">2026-04-03T01:01:03Z</dcterms:created>
  <dcterms:modified xsi:type="dcterms:W3CDTF">2026-04-03T01:01:03Z</dcterms:modified>
</cp:coreProperties>
</file>